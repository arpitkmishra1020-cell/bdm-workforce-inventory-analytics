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09dbbd726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09dbbd726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409dbbd726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409dbbd726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09dbbd7268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09dbbd7268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409dbbd7268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409dbbd7268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09dbbd7268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09dbbd7268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09dbbd726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409dbbd726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9dbbd7268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09dbbd7268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9dbbd7268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409dbbd7268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409dbbd7268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409dbbd7268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drive/folders/1k0gBL8aFBx3IK06QexzeiWUL_BEZYrLO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96125"/>
            <a:ext cx="8520600" cy="16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Times New Roman"/>
                <a:ea typeface="Times New Roman"/>
                <a:cs typeface="Times New Roman"/>
                <a:sym typeface="Times New Roman"/>
              </a:rPr>
              <a:t>BDM CAPSTONE PROJECT MAY TERM, 2026</a:t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900">
                <a:highlight>
                  <a:srgbClr val="F1F5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STRATEGIC WORKFORCE PLANNING AND INVENTORY OPTIMIZATION</a:t>
            </a:r>
            <a:endParaRPr b="1"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48800" y="2182013"/>
            <a:ext cx="85206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NAME: ARPIT KUMAR MISHRA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ROLL NO: 25F1002120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228600" rtl="0" algn="ctr">
              <a:spcBef>
                <a:spcPts val="499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228600" rtl="0" algn="ctr">
              <a:spcBef>
                <a:spcPts val="499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228600" rtl="0" algn="ctr">
              <a:spcBef>
                <a:spcPts val="499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228600" rtl="0" algn="ctr">
              <a:spcBef>
                <a:spcPts val="499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Batang"/>
              <a:ea typeface="Batang"/>
              <a:cs typeface="Batang"/>
              <a:sym typeface="Batang"/>
            </a:endParaRPr>
          </a:p>
          <a:p>
            <a:pPr indent="0" lvl="0" marL="228600" rtl="0" algn="ctr">
              <a:spcBef>
                <a:spcPts val="499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rPr>
              <a:t>IITM ONLINE BS DEGREE PROGRAM</a:t>
            </a:r>
            <a:endParaRPr sz="20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0338" y="3087363"/>
            <a:ext cx="943325" cy="943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50100" y="674200"/>
            <a:ext cx="87864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CONTEXT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ASHMITI ENTERPRISE 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VADODARA BASED B2B ORGANIZATION (FOUNDED BY MR. RAMNATH MISHRA) PROVIDING PRINTER MANAGEMENT,  TONER CARTRIDGE REMANUFACTURING, IT INFRASTRUCTURE MAINTENANCE, EQUIPMENT RENTALS AND ANNUAL MAINTENANCE CONTRACTS(AMC) SERVICES ACROSS MULTIPLE INDIAN STATES.</a:t>
            </a:r>
            <a:endParaRPr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38225" y="87000"/>
            <a:ext cx="773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CONTEXT &amp; KEY PROBLEMS</a:t>
            </a:r>
            <a:r>
              <a:rPr b="1" lang="en-GB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000" y="3339800"/>
            <a:ext cx="4262700" cy="166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&amp; PROCUREMENT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CONCENTRATION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PROCUREMENT FLUCTUATIONS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</a:t>
            </a: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PRIORITIZATION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WORKING-CAPITAL UTILIZATION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686800" y="3339800"/>
            <a:ext cx="4349700" cy="166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WORKFORCE &amp; SERVICE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WORKFORCE AVAILABILITY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 COMPLIANCE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QUALITY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VISITS &amp; COMPLAINTS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148075" y="108600"/>
            <a:ext cx="814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&amp; ANALYTICAL APPROACH </a:t>
            </a:r>
            <a:r>
              <a:rPr lang="en-GB" sz="1800">
                <a:solidFill>
                  <a:schemeClr val="dk2"/>
                </a:solidFill>
              </a:rPr>
              <a:t> 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17475" y="724200"/>
            <a:ext cx="3740700" cy="22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| DATA SOURCES </a:t>
            </a:r>
            <a:endParaRPr b="1"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records - Ashmiti Enterprise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Tally ERP 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Purchase Register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 Transaction Register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Godown Summary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records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Workforce attendance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visits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382300" y="724200"/>
            <a:ext cx="39582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 | DATA USED</a:t>
            </a:r>
            <a:endParaRPr b="1"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193</a:t>
            </a:r>
            <a:r>
              <a:rPr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nventory categories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936</a:t>
            </a:r>
            <a:r>
              <a:rPr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Employee-day records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360</a:t>
            </a:r>
            <a:r>
              <a:rPr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visits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</a:t>
            </a: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mployees | </a:t>
            </a:r>
            <a:r>
              <a:rPr b="1"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Apr-Jun 2026 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months</a:t>
            </a: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Purchase &amp; credit records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Jan–Jun 2026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60975" y="3327500"/>
            <a:ext cx="35340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&amp; PROCUREMENT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Procurement trend &amp; variability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concentration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 classification 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958650" y="3577625"/>
            <a:ext cx="40344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WORKFORCE &amp; SERVICE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 analysis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 performance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quality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visits and complaints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837925" y="3142650"/>
            <a:ext cx="46650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 | ANALYTICAL APPROACH </a:t>
            </a:r>
            <a:endParaRPr b="1"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799650" y="54375"/>
            <a:ext cx="76707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&amp; PROCUREMENT: KEY FINDINGS</a:t>
            </a:r>
            <a:endParaRPr b="1" sz="23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9350" y="750325"/>
            <a:ext cx="4398300" cy="367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| PROCUREMENT TREND</a:t>
            </a:r>
            <a:endParaRPr b="1"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32.73% CV </a:t>
            </a:r>
            <a:r>
              <a:rPr i="1"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Substantial month-to-month variation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 b="0" l="1700" r="1700" t="0"/>
          <a:stretch/>
        </p:blipFill>
        <p:spPr>
          <a:xfrm>
            <a:off x="253025" y="1176875"/>
            <a:ext cx="3979324" cy="255041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2" name="Google Shape;82;p16"/>
          <p:cNvSpPr txBox="1"/>
          <p:nvPr/>
        </p:nvSpPr>
        <p:spPr>
          <a:xfrm>
            <a:off x="4621550" y="750475"/>
            <a:ext cx="4398300" cy="367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 | INVENTORY CONCENTRATION</a:t>
            </a:r>
            <a:endParaRPr b="1" sz="1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69.55%</a:t>
            </a: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value held in A-class categories</a:t>
            </a:r>
            <a:endParaRPr i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6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1038" y="1177850"/>
            <a:ext cx="3979316" cy="25484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-75" y="62200"/>
            <a:ext cx="91440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&amp; PROCUREMENT: BUSINESS IMPLICATIONS </a:t>
            </a:r>
            <a:endParaRPr b="1"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39225" y="1056350"/>
            <a:ext cx="2088000" cy="1270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69.55%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value in A-class categories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653725" y="1056350"/>
            <a:ext cx="1826700" cy="1270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IMPLICATION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is concentrated in few categories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850525" y="1056350"/>
            <a:ext cx="1990200" cy="1270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Prioritise A-class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inventory for frequent review 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39225" y="2762050"/>
            <a:ext cx="1990200" cy="1587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Procurement CV = </a:t>
            </a: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32.73%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680950" y="2718550"/>
            <a:ext cx="1826700" cy="1587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IMPLICATION</a:t>
            </a:r>
            <a:b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Purchasing needs closer planning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6883675" y="2664400"/>
            <a:ext cx="2088000" cy="2098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</a:t>
            </a:r>
            <a:b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procurement reviews using inventory needs, past spending &amp; ABC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>
            <a:off x="2577175" y="1674625"/>
            <a:ext cx="83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/>
          <p:nvPr/>
        </p:nvCxnSpPr>
        <p:spPr>
          <a:xfrm>
            <a:off x="5828575" y="1696375"/>
            <a:ext cx="77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7"/>
          <p:cNvCxnSpPr/>
          <p:nvPr/>
        </p:nvCxnSpPr>
        <p:spPr>
          <a:xfrm flipH="1" rot="10800000">
            <a:off x="2533700" y="3467150"/>
            <a:ext cx="8514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7"/>
          <p:cNvCxnSpPr/>
          <p:nvPr/>
        </p:nvCxnSpPr>
        <p:spPr>
          <a:xfrm>
            <a:off x="5722563" y="3452425"/>
            <a:ext cx="9462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7"/>
          <p:cNvSpPr txBox="1"/>
          <p:nvPr/>
        </p:nvSpPr>
        <p:spPr>
          <a:xfrm>
            <a:off x="239225" y="4480175"/>
            <a:ext cx="64920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ABC analysis is value-based; adding consumption/stock velocity would improve identification of slow-moving or obsolete inventory.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/>
        </p:nvSpPr>
        <p:spPr>
          <a:xfrm>
            <a:off x="276425" y="0"/>
            <a:ext cx="75327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WORKFORCE &amp; SERVICE: KEY FINDINGS</a:t>
            </a:r>
            <a:r>
              <a:rPr b="1" lang="en-GB" sz="1800">
                <a:solidFill>
                  <a:schemeClr val="dk2"/>
                </a:solidFill>
              </a:rPr>
              <a:t>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91475" y="717700"/>
            <a:ext cx="2903400" cy="3050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| WORKFORCE &amp; SLA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93.59 % 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 - Present</a:t>
            </a:r>
            <a:endParaRPr i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45.83% 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 - Absent, Unplanned</a:t>
            </a:r>
            <a:endParaRPr i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Unplanned absence was associated with substantially lower SLA compliance.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association; causality not </a:t>
            </a:r>
            <a:r>
              <a:rPr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established</a:t>
            </a:r>
            <a:r>
              <a:rPr i="1" lang="en-GB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4110450" y="576325"/>
            <a:ext cx="4741200" cy="350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02 | SERVICE QUALITY 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4.42/5</a:t>
            </a:r>
            <a:r>
              <a:rPr lang="en-GB" sz="1800">
                <a:solidFill>
                  <a:schemeClr val="dk2"/>
                </a:solidFill>
              </a:rPr>
              <a:t> 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CUSTOMER RATING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7" name="Google Shape;107;p18" title="Chart"/>
          <p:cNvPicPr preferRelativeResize="0"/>
          <p:nvPr/>
        </p:nvPicPr>
        <p:blipFill rotWithShape="1">
          <a:blip r:embed="rId3">
            <a:alphaModFix/>
          </a:blip>
          <a:srcRect b="9999" l="0" r="0" t="12367"/>
          <a:stretch/>
        </p:blipFill>
        <p:spPr>
          <a:xfrm>
            <a:off x="4273275" y="1028750"/>
            <a:ext cx="4415575" cy="2606475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08" name="Google Shape;108;p18"/>
          <p:cNvSpPr txBox="1"/>
          <p:nvPr/>
        </p:nvSpPr>
        <p:spPr>
          <a:xfrm>
            <a:off x="276425" y="4167650"/>
            <a:ext cx="857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quality was generally satisfactory, but unplanned workforce absence coincided with weaker SLA performance. Skill compatibility and geographic routing should also be considered in workforce planning.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355400" y="43500"/>
            <a:ext cx="765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WORKFORCE &amp; SERVICE: BUSINESS IMPLICATIONS </a:t>
            </a:r>
            <a:endParaRPr b="1" sz="2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424100" y="587200"/>
            <a:ext cx="1968300" cy="152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45.83% SLA compliance during unplanned absence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414525" y="587200"/>
            <a:ext cx="1870500" cy="160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IMPLICATION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Unexpected workforce shortages can affect service commitments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>
            <a:off x="2533563" y="1498875"/>
            <a:ext cx="73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9"/>
          <p:cNvSpPr txBox="1"/>
          <p:nvPr/>
        </p:nvSpPr>
        <p:spPr>
          <a:xfrm>
            <a:off x="6524525" y="587200"/>
            <a:ext cx="2392200" cy="152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backup personnel and </a:t>
            </a: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prioritize</a:t>
            </a: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</a:t>
            </a: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service visits.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8" name="Google Shape;118;p19"/>
          <p:cNvCxnSpPr/>
          <p:nvPr/>
        </p:nvCxnSpPr>
        <p:spPr>
          <a:xfrm>
            <a:off x="5545850" y="1493475"/>
            <a:ext cx="8157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9"/>
          <p:cNvSpPr txBox="1"/>
          <p:nvPr/>
        </p:nvSpPr>
        <p:spPr>
          <a:xfrm>
            <a:off x="424100" y="2571750"/>
            <a:ext cx="1968300" cy="138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10.83% repeat visits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8.06% complaints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3414550" y="2571750"/>
            <a:ext cx="1870500" cy="138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IMPLICATION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cases require additional service effort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6524525" y="2571750"/>
            <a:ext cx="2392200" cy="1473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</a:t>
            </a:r>
            <a:b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repeat-visit reasons and improve </a:t>
            </a: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diagnosis</a:t>
            </a: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parts &amp; allocation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2" name="Google Shape;122;p19"/>
          <p:cNvCxnSpPr/>
          <p:nvPr/>
        </p:nvCxnSpPr>
        <p:spPr>
          <a:xfrm>
            <a:off x="2561025" y="3262200"/>
            <a:ext cx="68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9"/>
          <p:cNvCxnSpPr/>
          <p:nvPr/>
        </p:nvCxnSpPr>
        <p:spPr>
          <a:xfrm>
            <a:off x="5535038" y="3256800"/>
            <a:ext cx="8373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9"/>
          <p:cNvSpPr txBox="1"/>
          <p:nvPr/>
        </p:nvSpPr>
        <p:spPr>
          <a:xfrm>
            <a:off x="424100" y="4099575"/>
            <a:ext cx="8492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QUALITY CONTROL</a:t>
            </a: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Categorise complaints and repeat visits by service type and machine model to identify recurring high-impact issues.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197450" y="0"/>
            <a:ext cx="8845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&amp; WORKING CAPITAL CONTEXT</a:t>
            </a:r>
            <a:endParaRPr b="1"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5154375" y="576450"/>
            <a:ext cx="3708000" cy="321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 ACTIVITY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₹5.92 lakh 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monthly value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₹7.48 lakh 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- highest recorded value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16.04% 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 of variation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118925" y="576325"/>
            <a:ext cx="4675800" cy="321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Credit Transaction Value (Jan-Jun ‘26)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2" name="Google Shape;132;p20" title="Chart"/>
          <p:cNvPicPr preferRelativeResize="0"/>
          <p:nvPr/>
        </p:nvPicPr>
        <p:blipFill rotWithShape="1">
          <a:blip r:embed="rId3">
            <a:alphaModFix/>
          </a:blip>
          <a:srcRect b="9095" l="6402" r="0" t="11816"/>
          <a:stretch/>
        </p:blipFill>
        <p:spPr>
          <a:xfrm>
            <a:off x="250100" y="728550"/>
            <a:ext cx="4413450" cy="26098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33" name="Google Shape;133;p20"/>
          <p:cNvSpPr txBox="1"/>
          <p:nvPr/>
        </p:nvSpPr>
        <p:spPr>
          <a:xfrm>
            <a:off x="118925" y="3860400"/>
            <a:ext cx="87435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 activity was comparatively stable, but varied across months. May recorded the highest credit transaction value. The available data do not establish whether the May peak reflects service-order volume, billing timing, or cash-collection cycles.</a:t>
            </a:r>
            <a:b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credit activity as supporting financial context, not as a direct procurement or revenue indicator.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/>
        </p:nvSpPr>
        <p:spPr>
          <a:xfrm>
            <a:off x="345525" y="10874"/>
            <a:ext cx="84114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RECOMMENDED ACTION PLAN 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195725" y="456600"/>
            <a:ext cx="4208400" cy="3088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01| INVENTORY &amp; PROCUREMENT</a:t>
            </a:r>
            <a:b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&amp; PROCUREMENT CONTROL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A-class inventory frequently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procurement monthly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inventory needs + ABC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Future: Add consumption/stock velocity to ABC analysis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Future: Introduce reorder points &amp; safety stock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demand and lead-time data</a:t>
            </a:r>
            <a:b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572000" y="456600"/>
            <a:ext cx="4436700" cy="3088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 | WORKFORCE &amp; SERVICE</a:t>
            </a:r>
            <a:endParaRPr b="1"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WORKFORCE &amp; SERVICE RELIABILITY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backup personnel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critical service requirements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repeat visits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better diagnosis, parts preparation &amp; allocation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Categorise complaints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service type &amp; machine model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 New Roman"/>
              <a:buChar char="●"/>
            </a:pPr>
            <a:r>
              <a:rPr b="1"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 technician skills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service requirements and geographic routes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195725" y="3708100"/>
            <a:ext cx="8813100" cy="1233900"/>
          </a:xfrm>
          <a:prstGeom prst="rect">
            <a:avLst/>
          </a:prstGeom>
          <a:noFill/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BUSINESS VALUE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Tighter inventory control + more reliable service execution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Lower operational risk and better working-capital discipline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" name="Google Shape;142;p21"/>
          <p:cNvCxnSpPr/>
          <p:nvPr/>
        </p:nvCxnSpPr>
        <p:spPr>
          <a:xfrm>
            <a:off x="1120050" y="4860775"/>
            <a:ext cx="26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700950" y="888500"/>
            <a:ext cx="758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619825" y="3781125"/>
            <a:ext cx="648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BDM Project link:  </a:t>
            </a:r>
            <a:r>
              <a:rPr lang="en-GB" sz="2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Click here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